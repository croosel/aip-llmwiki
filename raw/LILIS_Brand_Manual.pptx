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B76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114800" cy="4114800"/>
          </a:xfrm>
          <a:prstGeom prst="ellipse">
            <a:avLst/>
          </a:prstGeom>
          <a:solidFill>
            <a:srgbClr val="D4AF37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65760"/>
            <a:ext cx="1828800" cy="7315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31520"/>
            <a:ext cx="8046720" cy="2286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LILIS Brand Manual / 品牌手册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292608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i="1" dirty="0">
                <a:solidFill>
                  <a:srgbClr val="F5E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Wedding &amp; Party Decor Supplies — One-Stop Wholesale Partner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4114800"/>
            <a:ext cx="8046720" cy="0"/>
          </a:xfrm>
          <a:prstGeom prst="line">
            <a:avLst/>
          </a:prstGeom>
          <a:noFill/>
          <a:ln w="19050">
            <a:solidFill>
              <a:srgbClr val="D4AF37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3891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E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Edition | cn1575365235ierx.en.alibaba.com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B76E7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76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品牌定位 (Brand Positioning)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3200400"/>
          </a:xfrm>
          <a:prstGeom prst="rect">
            <a:avLst/>
          </a:prstGeom>
          <a:solidFill>
            <a:srgbClr val="F5E6E8">
              <a:alpha val="50000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1887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76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LILIS Wedding Party Decor Supplies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One-stop wholesale partner for wedding &amp; party decor supplies in North America, Australia, Europe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4688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76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品牌调性：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Professional, warm, celebration-driven, trust-oriented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3200400"/>
            <a:ext cx="1645920" cy="548640"/>
          </a:xfrm>
          <a:prstGeom prst="roundRect">
            <a:avLst>
              <a:gd name="adj" fmla="val 83333"/>
            </a:avLst>
          </a:prstGeom>
          <a:solidFill>
            <a:srgbClr val="B76E79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2004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#LowMOQ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651760" y="3200400"/>
            <a:ext cx="1645920" cy="548640"/>
          </a:xfrm>
          <a:prstGeom prst="roundRect">
            <a:avLst>
              <a:gd name="adj" fmla="val 83333"/>
            </a:avLst>
          </a:prstGeom>
          <a:solidFill>
            <a:srgbClr val="B76E79"/>
          </a:solidFill>
          <a:ln/>
        </p:spPr>
      </p:sp>
      <p:sp>
        <p:nvSpPr>
          <p:cNvPr id="11" name="Text 9"/>
          <p:cNvSpPr/>
          <p:nvPr/>
        </p:nvSpPr>
        <p:spPr>
          <a:xfrm>
            <a:off x="2651760" y="32004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#USWarehouse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0" y="3200400"/>
            <a:ext cx="1645920" cy="548640"/>
          </a:xfrm>
          <a:prstGeom prst="roundRect">
            <a:avLst>
              <a:gd name="adj" fmla="val 83333"/>
            </a:avLst>
          </a:prstGeom>
          <a:solidFill>
            <a:srgbClr val="B76E79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32004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#OneStopShop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92240" y="3200400"/>
            <a:ext cx="1645920" cy="548640"/>
          </a:xfrm>
          <a:prstGeom prst="roundRect">
            <a:avLst>
              <a:gd name="adj" fmla="val 83333"/>
            </a:avLst>
          </a:prstGeom>
          <a:solidFill>
            <a:srgbClr val="B76E79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0" y="32004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#OEM/ODM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B76E7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76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品牌架构 — AIP 品类分层 (Product Architecture)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2286000" cy="731520"/>
          </a:xfrm>
          <a:prstGeom prst="rect">
            <a:avLst/>
          </a:prstGeom>
          <a:solidFill>
            <a:srgbClr val="B76E79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 层 (核心流量)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108960" y="1097280"/>
            <a:ext cx="5486400" cy="731520"/>
          </a:xfrm>
          <a:prstGeom prst="rect">
            <a:avLst/>
          </a:prstGeom>
          <a:solidFill>
            <a:srgbClr val="F5E6E8"/>
          </a:solidFill>
          <a:ln w="12700">
            <a:solidFill>
              <a:srgbClr val="B76E7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0" y="1097280"/>
            <a:ext cx="5303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Artificial Flowers &amp; Garlands / Backdrop &amp; Ceremony Arches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286000"/>
            <a:ext cx="2286000" cy="73152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2860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层 (增长引擎)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108960" y="2286000"/>
            <a:ext cx="5486400" cy="731520"/>
          </a:xfrm>
          <a:prstGeom prst="rect">
            <a:avLst/>
          </a:prstGeom>
          <a:solidFill>
            <a:srgbClr val="F5E6E8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2286000"/>
            <a:ext cx="5303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Balloon Arches &amp; Decor / Centerpieces &amp; Table Florals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3474720"/>
            <a:ext cx="2286000" cy="73152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47472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 层 (利润品类)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108960" y="3474720"/>
            <a:ext cx="5486400" cy="731520"/>
          </a:xfrm>
          <a:prstGeom prst="rect">
            <a:avLst/>
          </a:prstGeom>
          <a:solidFill>
            <a:srgbClr val="F5E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0" y="3474720"/>
            <a:ext cx="5303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Bulk Wedding Decor Sets / Wall &amp; Ceiling Drapery Decor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B76E7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76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目标市场 (Target Markets)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828800"/>
                <a:gridCol w="2286000"/>
                <a:gridCol w="32004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优先级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6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市场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6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核心客户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6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关键特征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6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US / CA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Amazon &amp; eBay Sellers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FBA/FBM 批发，低MOQ快周转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P1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GB / AU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Event Planners + Retailers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澳洲季节反转⚠️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P2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 / FR / IT / ES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Wedding Planners + Hotels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注重环保认证与品质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B76E7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76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买家画像 (Buyer Personas)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3840480" cy="1463040"/>
          </a:xfrm>
          <a:prstGeom prst="roundRect">
            <a:avLst>
              <a:gd name="adj" fmla="val 6250"/>
            </a:avLst>
          </a:prstGeom>
          <a:solidFill>
            <a:srgbClr val="F5E6E8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1887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76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Amazon Sellers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55448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FBA/FBM，MOQ 50-200 sets，需CPC合规、美国仓快速补货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840480" cy="1463040"/>
          </a:xfrm>
          <a:prstGeom prst="roundRect">
            <a:avLst>
              <a:gd name="adj" fmla="val 6250"/>
            </a:avLst>
          </a:prstGeom>
          <a:solidFill>
            <a:srgbClr val="F5E6E8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1887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76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eBay Sellers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37760" y="155448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小批量混装，MOQ 20-100 sets，要现货快发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926080"/>
            <a:ext cx="3840480" cy="1463040"/>
          </a:xfrm>
          <a:prstGeom prst="roundRect">
            <a:avLst>
              <a:gd name="adj" fmla="val 6250"/>
            </a:avLst>
          </a:prstGeom>
          <a:solidFill>
            <a:srgbClr val="F5E6E8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0175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76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SMB Retailers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338328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Party stores/礼品店，MOQ 100-500 sets，需稳定补货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2926080"/>
            <a:ext cx="3840480" cy="1463040"/>
          </a:xfrm>
          <a:prstGeom prst="roundRect">
            <a:avLst>
              <a:gd name="adj" fmla="val 6250"/>
            </a:avLst>
          </a:prstGeom>
          <a:solidFill>
            <a:srgbClr val="F5E6E8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30175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76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Planners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37760" y="338328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婚庆/活动策划公司，MOQ 30-100 sets，需主题套装一站式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B76E7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76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价值主张 (Value Proposition)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2560320" cy="1371600"/>
          </a:xfrm>
          <a:prstGeom prst="rect">
            <a:avLst/>
          </a:prstGeom>
          <a:solidFill>
            <a:srgbClr val="F5E6E8">
              <a:alpha val="70000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54480" y="1005840"/>
            <a:ext cx="548640" cy="548640"/>
          </a:xfrm>
          <a:prstGeom prst="ellipse">
            <a:avLst/>
          </a:prstGeom>
          <a:solidFill>
            <a:srgbClr val="B76E79"/>
          </a:solidFill>
          <a:ln/>
        </p:spPr>
      </p:sp>
      <p:sp>
        <p:nvSpPr>
          <p:cNvPr id="6" name="Text 4"/>
          <p:cNvSpPr/>
          <p:nvPr/>
        </p:nvSpPr>
        <p:spPr>
          <a:xfrm>
            <a:off x="1554480" y="1005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76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Warehouse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美国本土仓，3-5天送达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1188720"/>
            <a:ext cx="2560320" cy="1371600"/>
          </a:xfrm>
          <a:prstGeom prst="rect">
            <a:avLst/>
          </a:prstGeom>
          <a:solidFill>
            <a:srgbClr val="F5E6E8">
              <a:alpha val="70000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9120" y="1005840"/>
            <a:ext cx="548640" cy="548640"/>
          </a:xfrm>
          <a:prstGeom prst="ellipse">
            <a:avLst/>
          </a:prstGeom>
          <a:solidFill>
            <a:srgbClr val="B76E79"/>
          </a:solidFill>
          <a:ln/>
        </p:spPr>
      </p:sp>
      <p:sp>
        <p:nvSpPr>
          <p:cNvPr id="11" name="Text 9"/>
          <p:cNvSpPr/>
          <p:nvPr/>
        </p:nvSpPr>
        <p:spPr>
          <a:xfrm>
            <a:off x="4389120" y="1005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74720" y="1554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76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98% Response Rate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74720" y="19202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询盘≤3h回复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188720"/>
            <a:ext cx="2560320" cy="1371600"/>
          </a:xfrm>
          <a:prstGeom prst="rect">
            <a:avLst/>
          </a:prstGeom>
          <a:solidFill>
            <a:srgbClr val="F5E6E8">
              <a:alpha val="70000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23760" y="1005840"/>
            <a:ext cx="548640" cy="548640"/>
          </a:xfrm>
          <a:prstGeom prst="ellipse">
            <a:avLst/>
          </a:prstGeom>
          <a:solidFill>
            <a:srgbClr val="B76E79"/>
          </a:solidFill>
          <a:ln/>
        </p:spPr>
      </p:sp>
      <p:sp>
        <p:nvSpPr>
          <p:cNvPr id="16" name="Text 14"/>
          <p:cNvSpPr/>
          <p:nvPr/>
        </p:nvSpPr>
        <p:spPr>
          <a:xfrm>
            <a:off x="7223760" y="1005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09360" y="1554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76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OEM/ODM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09360" y="19202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品牌定制包装、私家配色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2834640"/>
            <a:ext cx="2560320" cy="1371600"/>
          </a:xfrm>
          <a:prstGeom prst="rect">
            <a:avLst/>
          </a:prstGeom>
          <a:solidFill>
            <a:srgbClr val="F5E6E8">
              <a:alpha val="70000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554480" y="2651760"/>
            <a:ext cx="548640" cy="548640"/>
          </a:xfrm>
          <a:prstGeom prst="ellipse">
            <a:avLst/>
          </a:prstGeom>
          <a:solidFill>
            <a:srgbClr val="B76E79"/>
          </a:solidFill>
          <a:ln/>
        </p:spPr>
      </p:sp>
      <p:sp>
        <p:nvSpPr>
          <p:cNvPr id="21" name="Text 19"/>
          <p:cNvSpPr/>
          <p:nvPr/>
        </p:nvSpPr>
        <p:spPr>
          <a:xfrm>
            <a:off x="1554480" y="2651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0080" y="3200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76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Bundled Solutions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" y="35661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套餐组合，降低40%采购时间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383280" y="2834640"/>
            <a:ext cx="2560320" cy="1371600"/>
          </a:xfrm>
          <a:prstGeom prst="rect">
            <a:avLst/>
          </a:prstGeom>
          <a:solidFill>
            <a:srgbClr val="F5E6E8">
              <a:alpha val="70000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89120" y="2651760"/>
            <a:ext cx="548640" cy="548640"/>
          </a:xfrm>
          <a:prstGeom prst="ellipse">
            <a:avLst/>
          </a:prstGeom>
          <a:solidFill>
            <a:srgbClr val="B76E79"/>
          </a:solidFill>
          <a:ln/>
        </p:spPr>
      </p:sp>
      <p:sp>
        <p:nvSpPr>
          <p:cNvPr id="26" name="Text 24"/>
          <p:cNvSpPr/>
          <p:nvPr/>
        </p:nvSpPr>
        <p:spPr>
          <a:xfrm>
            <a:off x="4389120" y="2651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474720" y="3200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76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MOQ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0" y="35661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1-5 pcs起订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17920" y="2834640"/>
            <a:ext cx="2560320" cy="1371600"/>
          </a:xfrm>
          <a:prstGeom prst="rect">
            <a:avLst/>
          </a:prstGeom>
          <a:solidFill>
            <a:srgbClr val="F5E6E8">
              <a:alpha val="70000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0" y="2651760"/>
            <a:ext cx="548640" cy="548640"/>
          </a:xfrm>
          <a:prstGeom prst="ellipse">
            <a:avLst/>
          </a:prstGeom>
          <a:solidFill>
            <a:srgbClr val="B76E79"/>
          </a:solidFill>
          <a:ln/>
        </p:spPr>
      </p:sp>
      <p:sp>
        <p:nvSpPr>
          <p:cNvPr id="31" name="Text 29"/>
          <p:cNvSpPr/>
          <p:nvPr/>
        </p:nvSpPr>
        <p:spPr>
          <a:xfrm>
            <a:off x="7223760" y="2651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309360" y="3200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76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CPC/CPSIA Certified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309360" y="35661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合规认证保障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B76E7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76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产品标准 — 标题规则 (Product Title Rules)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标题结构：LILIS + [件数] + [主题/颜色] + [核心组件] + [适用场景] + [差异化标签]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8229600" cy="731520"/>
          </a:xfrm>
          <a:prstGeom prst="rect">
            <a:avLst/>
          </a:prstGeom>
          <a:solidFill>
            <a:srgbClr val="F5E6E8"/>
          </a:solidFill>
          <a:ln w="12700">
            <a:solidFill>
              <a:srgbClr val="B76E7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630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示例：LILIS 150PCS Pink Princess Balloon Garland Kit with Crown &amp; Sash for Girls Birthday Party Decorations - US Warehouse Fast Ship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377440"/>
            <a:ext cx="822960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28A7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4688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A7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必含内容 (Mandatory)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27432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品牌前缀LILIS、件数(PCS/Set)、场景词(Wedding/Birthday/Party)、差异化标签(US Warehouse/Fast Ship/Customizable)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566160"/>
            <a:ext cx="822960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DC35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6576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3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禁含内容 (Prohibited)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39319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Disney/Sanrio/Marvel等IP词、夸大词(Best/Cheapest/#1)、促销词(Free/Discount)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B76E7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76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产品标准 — 图片与合规 (Image &amp; Compliance)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3840480" cy="3474720"/>
          </a:xfrm>
          <a:prstGeom prst="rect">
            <a:avLst/>
          </a:prstGeom>
          <a:solidFill>
            <a:srgbClr val="F5E6E8">
              <a:alpha val="50000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1887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76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图片规范 (Image Standards)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3474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首图：纯白底(RGB 255,255,255)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无文字/水印/IP形象，产品占70-85%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副图≥5张：细节/尺寸/场景/组件/认证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840480" cy="3474720"/>
          </a:xfrm>
          <a:prstGeom prst="rect">
            <a:avLst/>
          </a:prstGeom>
          <a:solidFill>
            <a:srgbClr val="F5E6E8">
              <a:alpha val="50000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1887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76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合规红线 (Compliance &amp; IP)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937760" y="1737360"/>
            <a:ext cx="3474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C3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禁售IP：Disney/Sanrio/Marvel/Bluey等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认证：CPC (儿童产品) / CPSIA (铅/邻苯)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认证：UL/ETL (电子类产品)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B76E7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76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季节日历 (Seasonal Calendar)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8229600" cy="3840480"/>
        </p:xfrm>
        <a:graphic>
          <a:graphicData uri="http://schemas.openxmlformats.org/drawingml/2006/table">
            <a:tbl>
              <a:tblPr/>
              <a:tblGrid>
                <a:gridCol w="914400"/>
                <a:gridCol w="2377440"/>
                <a:gridCol w="2377440"/>
                <a:gridCol w="256032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月份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6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US市场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6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EU市场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6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AU市场 ⚠️季节反转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6E7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Jan-Feb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Valentine's备货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淡季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夏季活动旺季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Mar-Apr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Easter / Mother's Day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婚庆季启动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秋季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May-Jun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Wedding Peak / Graduation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Wedding Peak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冬季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Jul-Aug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7/4 / Halloween备货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假期季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冬季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Sep-Oct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Thanksgiving / Christmas备货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Christmas备货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春季 → 婚庆备货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Nov-Dec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Christmas / NYE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Christmas旺季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夏季活动旺季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B76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D4AF37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 &amp; Contact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371600" y="1371600"/>
            <a:ext cx="640080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554480" y="155448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76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店铺 (Store): 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cn1575365235ierx.en.alibaba.com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554480" y="214884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76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主市场 (Markets): 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 / CA / GB / AU / DE / FR / IT / 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54480" y="274320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76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起订量 (MOQ): 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1-5 pcs起订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54480" y="333756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76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物流 (Ship): 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 Warehouse 3-5 Days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54480" y="393192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76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 (Next): 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发品 → P4P品牌词投放 → 套餐Listing优化 → 季节备货提醒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LILIS Brand Manual</dc:title>
  <dc:subject>PptxGenJS Presentation</dc:subject>
  <dc:creator>LILIS Branding Team</dc:creator>
  <cp:lastModifiedBy>LILIS Branding Team</cp:lastModifiedBy>
  <cp:revision>1</cp:revision>
  <dcterms:created xsi:type="dcterms:W3CDTF">2026-05-19T17:33:46Z</dcterms:created>
  <dcterms:modified xsi:type="dcterms:W3CDTF">2026-05-19T17:33:46Z</dcterms:modified>
</cp:coreProperties>
</file>